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9dd0e01-68bb-3284-26f7-4003432d3abe}">
          <p14:sldIdLst>
            <p14:sldId id="256"/>
            <p14:sldId id="257"/>
            <p14:sldId id="258"/>
          </p14:sldIdLst>
        </p14:section>
        <p14:section name="Background and novelty" id="{6ccf9e51-a6b7-0dbf-6754-316e138ad763}">
          <p14:sldIdLst>
            <p14:sldId id="259"/>
            <p14:sldId id="260"/>
            <p14:sldId id="261"/>
          </p14:sldIdLst>
        </p14:section>
        <p14:section name="Design and algorithms" id="{ac42033b-2e18-6046-e9a9-8f3f8b8c74df}">
          <p14:sldIdLst>
            <p14:sldId id="262"/>
            <p14:sldId id="263"/>
            <p14:sldId id="264"/>
            <p14:sldId id="265"/>
            <p14:sldId id="266"/>
          </p14:sldIdLst>
        </p14:section>
        <p14:section name="Demo and results" id="{e14d5116-9e2d-467b-4f62-1416b5944790}">
          <p14:sldIdLst>
            <p14:sldId id="267"/>
            <p14:sldId id="268"/>
            <p14:sldId id="269"/>
            <p14:sldId id="270"/>
          </p14:sldIdLst>
        </p14:section>
        <p14:section name="Close" id="{a41ac1fc-1af6-1942-167d-451d299ff63c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SAURABH (about 1 min). Good morning. We are group G14 and our project is P13, the Autonomous Valet Parking Agent. Each member now says name and SAP ID on camera. Then: our car finds a free slot in a crowded parking lot, plans a drivable route, reverses into the slot and stays safe around pedestrians. Everything runs in Webots with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SAURABH (1 min). Explain the real problem and the industry context. Point at the lot: start bottom-left, pick-up top-left, grey boxes are parked cars, orange dots are pedestrians.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SAURABH (1 min). Read each objective and show that every target was met. Numbers come from 525 simulated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NAMAN (1.5 min). Walk through the table quickly; stress the three gaps in the yellow box, which our novelty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NAMAN (1.5 min). Four novelty points, each backed by a number from our experiments. Also mention: one agent code base runs both Webots and the headless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ANIRVAN (1 min). Map each syllabus topic to the module that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ANIRVAN (1.5 min). Slow layers plan, fast layers react; lower layers can override. Explain the state machine and the two events: slot taken by another car, and blocked by a pedestrian.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SAURABH (1 min). Explain the reference point at the rear axle, the turning radius and why we needed side sensors. Mention make_world.py generates the Webots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NAMAN (1.5 min). Left: the grid path cuts a corner the car cannot drive; Hybrid A* drives past and reverses in. Right: search tree without funnel (orange) vs with funnel (blue): 5.5 times fewer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ADITYA (1.5 min). Explain the pure pursuit geometry and reversing, the PID, the Bode plot and the two bugs we fixed (overshoot at stop, full-lock planning).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PRIYAL (1.5 min). Why a straight corridor is not enough: the side of a turning car sweeps through people. Show the timeline: same lot, same pedestrians.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SAURABH + ADITYA (6 min LIVE). Share the Webots window: car starts, console prints SELECT/PLAN/DRIVE/DOCK/PARKED, pedestrian crosses and the car slows. Then show run_demo.py in the twin and, if time, the 'slot taken' run: python sim/run_demo.py --seed 3 --steal.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ADITYA (1.5 min). E1: grid A* never parks; Hybrid A* without funnel 80 %, with funnel 100 % and 5.5x fewer nodes. Tracking error 3.3 cm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ANIRVAN (1.5 min). Pedestrian safety, slot choice, noise robustness, full lots and the dynamic event. Be honest about limits: kinematic twin for statistics, Python planning 1-3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PRIYAL (1 min). Each member owns a module and committed it from their own GitHub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(1.5 min). Each member says one thing they learned as a team. Then summarise the findings and industrial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ALL. Thank the faculty;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D2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2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3"/>
                </a:solidFill>
              </a:rPr>
              <a:t>CSAI4014 Algorithms for Intelligent Systems and Robotics  |  B.Tech CSE (AI &amp; ML), Sem VII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Autonomous Valet Parking Agent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B700"/>
                </a:solidFill>
              </a:rPr>
              <a:t>Hybrid A* planning  ·  Pure Pursuit + PID  ·  reflexive safety layer  ·  Webots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P13   |   Group G14   |   Batch B2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Faculty: Course Faculty, CSAI4014, School of Computer Science, UPES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60350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Saurabh Kumar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9CDD3"/>
                          </a:solidFill>
                        </a:rPr>
                        <a:t>500124288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Naman Chanana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9CDD3"/>
                          </a:solidFill>
                        </a:rPr>
                        <a:t>500119485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Anirvan Ranjan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9CDD3"/>
                          </a:solidFill>
                        </a:rPr>
                        <a:t>500119330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Aditya Pratap Singh Sisodia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9CDD3"/>
                          </a:solidFill>
                        </a:rPr>
                        <a:t>500121985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Priyal Sharma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9CDD3"/>
                          </a:solidFill>
                        </a:rPr>
                        <a:t>500122041</a:t>
                      </a:r>
                      <a:endParaRPr lang="en-US" sz="18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demo" descr="/Users/anirvanranjan/Downloads/AISR_proj/G14_Valet_Parking/results/demo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606040"/>
            <a:ext cx="4069080" cy="3721608"/>
          </a:xfrm>
          <a:prstGeom prst="rect">
            <a:avLst/>
          </a:prstGeom>
        </p:spPr>
      </p:pic>
      <p:sp>
        <p:nvSpPr>
          <p:cNvPr id="8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9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Saurabh Kumar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Problem and motivation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Saurabh Kumar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03504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Parking: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slow, stressful, and where most low-speed scrapes happen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Automated valet parking (AVP):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leave the car at drop-off, it parks itself and comes back to pick-up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Industry: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Bosch + Mercedes Level-4 AVP, Stuttgart airport (2022); ISO 23374 standard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Hard because: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a car can't turn on the spot (R_min = 4.87 m), must reverse, and must react to people</a:t>
            </a:r>
            <a:endParaRPr lang="en-US" sz="2000" dirty="0"/>
          </a:p>
        </p:txBody>
      </p:sp>
      <p:pic>
        <p:nvPicPr>
          <p:cNvPr id="6" name="fig_lot_layout.png" descr="/Users/anirvanranjan/Downloads/AISR_proj/G14_Valet_Parking/results/figures/fig_lot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49613"/>
            <a:ext cx="5029200" cy="47988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66560" y="6309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F57"/>
                </a:solidFill>
              </a:rPr>
              <a:t>Our lot: 48 slots, 2 aisles, 50-92 % full, crossing pedestrians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Objectives: target vs achieved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Saurabh Kumar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754880"/>
                <a:gridCol w="2011680"/>
                <a:gridCol w="3657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Measurable objective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Achieved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O1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Success rate, 70 % full lot, zero collisions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≥ 95 %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100 %  (30/30)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O2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Final parking accuracy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&lt; 10 cm, &lt; 2°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4.2 cm, 1.2°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O3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Planning time in Python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&lt; 5 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1.65 s mean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O4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Pedestrian contacts (4 crossing people)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0 %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0 %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O5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Methods compared per layer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≥ 2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2 planners, 2 steering laws, 3 reflexes, 2 slot policies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Existing solutions and the gap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Naman Chanana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9184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Grid A* (Hart et al. 1968)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Fast, optimal on grid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Ignores heading: path not drivable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Hybrid A* (Dolgov et al. 2010)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Drivable, obstacle-aware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Slow to hit a narrow slot pose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Pure Pursuit / Stanley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Simple, proven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Stanley weak in reverse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Park-assist rules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Cheap ultrasonic stop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Fixed distance misses side-swipes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Industry AVP (Bosch, ISO 23374)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Certified, Level 4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Closed source, costly infrastructure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FF3C4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Gap we target: fast slot planning + turning-aware safety + choosing the slot for the whole valet cycle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Novelty: what is new, with evidence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Naman Chanana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</a:rPr>
              <a:t>5.5× fewer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9631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node expansions with our slot "goal funnel" in Hybrid A* (success 80 % → 100 %)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508760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</a:rPr>
              <a:t>0 % contacts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9631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with the swept-footprint TTC reflex (17 % fixed-distance, 20 % none)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77640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</a:rPr>
              <a:t>−7.6 %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651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valet cycle length (drive in + out) with the utility-based slot choice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977640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F36"/>
                </a:solidFill>
              </a:rPr>
              <a:t>100 % vs 20 %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9651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success at 0.3 m GPS noise: Kalman filter vs raw GPS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AISR syllabus mapping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Anirvan Ranjan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Syllabus topic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Where we use it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Declarative–procedural–reflexive hierarchy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The three layers of the agent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Intelligent agents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Utility-based slot choice, mission state machine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Path planning, planning to move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Grid A*, Hybrid A* + goal funnel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Moving (ground robots)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Ackermann bicycle model, reversing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Closed-loop control, time/frequency domain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PID speed loop, step response, Bode, phase margin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Perception, uncertain movement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26 range sensors, Kalman filter, Monte Carlo tests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System architecture: three-layer agent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Anirvan Ranjan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417320"/>
            <a:ext cx="6309360" cy="1097280"/>
          </a:xfrm>
          <a:prstGeom prst="roundRect">
            <a:avLst>
              <a:gd name="adj" fmla="val 6667"/>
            </a:avLst>
          </a:prstGeom>
          <a:solidFill>
            <a:srgbClr val="E3F1E8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" y="1417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DECLARATIVE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1D21"/>
                </a:solidFill>
              </a:rPr>
              <a:t>slot utility J(s)  →  Hybrid A* + goal funnel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14173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4A4F57"/>
                </a:solidFill>
              </a:rPr>
              <a:t>once per mission and on events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2532888"/>
            <a:ext cx="365760" cy="274320"/>
          </a:xfrm>
          <a:prstGeom prst="downArrow">
            <a:avLst/>
          </a:prstGeom>
          <a:solidFill>
            <a:srgbClr val="4A4F57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834640"/>
            <a:ext cx="6309360" cy="1097280"/>
          </a:xfrm>
          <a:prstGeom prst="roundRect">
            <a:avLst>
              <a:gd name="adj" fmla="val 6667"/>
            </a:avLst>
          </a:prstGeom>
          <a:solidFill>
            <a:srgbClr val="E3ECF8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2834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PROCEDURAL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1D21"/>
                </a:solidFill>
              </a:rPr>
              <a:t>Pure Pursuit steering  →  speed profile  →  PID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4A4F57"/>
                </a:solidFill>
              </a:rPr>
              <a:t>every 48 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3950208"/>
            <a:ext cx="365760" cy="274320"/>
          </a:xfrm>
          <a:prstGeom prst="downArrow">
            <a:avLst/>
          </a:prstGeom>
          <a:solidFill>
            <a:srgbClr val="4A4F57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4251960"/>
            <a:ext cx="6309360" cy="1097280"/>
          </a:xfrm>
          <a:prstGeom prst="roundRect">
            <a:avLst>
              <a:gd name="adj" fmla="val 6667"/>
            </a:avLst>
          </a:prstGeom>
          <a:solidFill>
            <a:srgbClr val="FCE9DF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4251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REFLEXIVE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1D21"/>
                </a:solidFill>
              </a:rPr>
              <a:t>e-stop · swept TTC · docking · re-plan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42519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4A4F57"/>
                </a:solidFill>
              </a:rPr>
              <a:t>every 48 ms, overrides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15087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508760"/>
            <a:ext cx="2011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1"/>
                </a:solidFill>
              </a:rPr>
              <a:t>Facility: free slots,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D21"/>
                </a:solidFill>
              </a:rPr>
              <a:t>parked cars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06040" y="1828800"/>
            <a:ext cx="274320" cy="274320"/>
          </a:xfrm>
          <a:prstGeom prst="rightArrow">
            <a:avLst/>
          </a:prstGeom>
          <a:solidFill>
            <a:srgbClr val="4A4F57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260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1"/>
                </a:solidFill>
              </a:rPr>
              <a:t>GPS + IMU + wheels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D21"/>
                </a:solidFill>
              </a:rPr>
              <a:t>→ Kalman filter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606040" y="3246120"/>
            <a:ext cx="274320" cy="274320"/>
          </a:xfrm>
          <a:prstGeom prst="rightArrow">
            <a:avLst/>
          </a:prstGeom>
          <a:solidFill>
            <a:srgbClr val="4A4F57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43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343400"/>
            <a:ext cx="2011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1"/>
                </a:solidFill>
              </a:rPr>
              <a:t>26 range sensors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606040" y="4663440"/>
            <a:ext cx="274320" cy="274320"/>
          </a:xfrm>
          <a:prstGeom prst="rightArrow">
            <a:avLst/>
          </a:prstGeom>
          <a:solidFill>
            <a:srgbClr val="4A4F57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4526280"/>
            <a:ext cx="365760" cy="365760"/>
          </a:xfrm>
          <a:prstGeom prst="rightArrow">
            <a:avLst/>
          </a:prstGeom>
          <a:solidFill>
            <a:srgbClr val="4A4F57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41605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84080" y="4160520"/>
            <a:ext cx="19202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Webots Driver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steer + speed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D21"/>
                </a:solidFill>
              </a:rPr>
              <a:t>Mission FSM:  SELECT → PLAN → DRIVE → DOCK → PARKED   (re-select if slot taken, re-plan if blocked)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Robot and environment model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Saurabh Kumar</a:t>
            </a:r>
            <a:endParaRPr lang="en-US" sz="1400" dirty="0"/>
          </a:p>
        </p:txBody>
      </p:sp>
      <p:pic>
        <p:nvPicPr>
          <p:cNvPr id="5" name="fig_sensor_layout.png" descr="/Users/anirvanranjan/Downloads/AISR_proj/G14_Valet_Parking/results/figures/fig_sensor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0755"/>
            <a:ext cx="6035040" cy="453081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0" y="1371600"/>
            <a:ext cx="484632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Car: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Webots BMW X5, Ackermann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Bicycle model: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θ̇ = v·tan δ / L,  L = 2.995 m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R_min = L / tan δ_max = 4.87 m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26 range sensors, GPS, IMU, wheel speed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World generated from the same Python lot model (no drift between Webots and twin)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Algorithm 1: Hybrid A* with goal funnel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Naman Chanana</a:t>
            </a:r>
            <a:endParaRPr lang="en-US" sz="1400" dirty="0"/>
          </a:p>
        </p:txBody>
      </p:sp>
      <p:pic>
        <p:nvPicPr>
          <p:cNvPr id="5" name="fig_planner_paths.png" descr="/Users/anirvanranjan/Downloads/AISR_proj/G14_Valet_Parking/results/figures/fig_planner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165" y="1234440"/>
            <a:ext cx="787719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4846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1"/>
                </a:solidFill>
              </a:rPr>
              <a:t>Expand Ackermann primitives (5 steers × fwd/rev, 1 m)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297680" y="4983480"/>
            <a:ext cx="548640" cy="54864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4846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1"/>
                </a:solidFill>
              </a:rPr>
              <a:t>Cost: length, reverse ×1.6, steering, gear changes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4983480"/>
            <a:ext cx="548640" cy="54864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D2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846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1"/>
                </a:solidFill>
              </a:rPr>
              <a:t>Funnel: stop on the slot axis (±0.2 m, ±6°), finish with a straight reverse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Algorithm 2: path tracking and speed control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Aditya P. S. Sisodia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12064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Pure Pursuit: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κ = 2 sin α / L_d,  δ = ±atan(L κ)  (sign flips in reverse)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Look-ahead tuned: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L_d = max(1.6, 0.8|v|)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PID speed: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Kp 1.8, Ki 0.6, Kd 0.05, anti-windup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Lag-aware braking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removed a 0.35 m stop overshoot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Plan with 88 % steering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→ reserve for feedback</a:t>
            </a:r>
            <a:endParaRPr lang="en-US" sz="2000" dirty="0"/>
          </a:p>
        </p:txBody>
      </p:sp>
      <p:pic>
        <p:nvPicPr>
          <p:cNvPr id="6" name="fig_speed_loop.png" descr="/Users/anirvanranjan/Downloads/AISR_proj/G14_Valet_Parking/results/figures/fig_speed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386649"/>
            <a:ext cx="5852160" cy="2713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4206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D21"/>
                </a:solidFill>
              </a:rPr>
              <a:t>Phase margin 46° · rise 0.85 s · overshoot 20 % (with saturation)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4846320"/>
            <a:ext cx="5852160" cy="1097280"/>
          </a:xfrm>
          <a:prstGeom prst="rect">
            <a:avLst/>
          </a:prstGeom>
          <a:solidFill>
            <a:srgbClr val="F2F3F5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Stanley compared: tracks forward well, but only 57 % of missions park within tolerance (Pure Pursuit 100 %)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Algorithm 3: reflexive layer (swept TTC)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Priyal Sharma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12064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R1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e-stop if contact distance &lt; 0.45 m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R2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v ≤ (s_c − 0.45) / 2.5 s − v_obstacle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R3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docking: centre in slot, rear gap stop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R4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blocked 4 s → re-plan around it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D21"/>
                </a:solidFill>
              </a:rPr>
              <a:t>s_c: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B1D21"/>
                </a:solidFill>
              </a:rPr>
              <a:t>move the car outline along the current steering arc; first sensed point it touches</a:t>
            </a:r>
            <a:endParaRPr lang="en-US" sz="2000" dirty="0"/>
          </a:p>
        </p:txBody>
      </p:sp>
      <p:pic>
        <p:nvPicPr>
          <p:cNvPr id="6" name="fig_reflex_timeline.png" descr="/Users/anirvanranjan/Downloads/AISR_proj/G14_Valet_Parking/results/figures/fig_reflex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269659"/>
            <a:ext cx="5852160" cy="41358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5486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F57"/>
                </a:solidFill>
              </a:rPr>
              <a:t>Fixed-distance rule hits the pedestrian (×); swept TTC slows smoothly and parks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Simulation setup and live demo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Saurabh + Aditya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035040" cy="2011680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tools/make_world.py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Webots: open valet_parking.wbt, Run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sim/run_demo.py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experiments/run_experiments.py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60350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Webots R2025a, BmwX5 PROTO, Python 3.11 controller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Headless twin: same agent code, 525 Monte Carlo missions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Control period 48 ms; 30 random lots per setting</a:t>
            </a:r>
            <a:endParaRPr lang="en-US" sz="2000" dirty="0"/>
          </a:p>
        </p:txBody>
      </p:sp>
      <p:pic>
        <p:nvPicPr>
          <p:cNvPr id="7" name="demo2" descr="/Users/anirvanranjan/Downloads/AISR_proj/G14_Valet_Parking/results/demo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34440"/>
            <a:ext cx="4754880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5715000"/>
            <a:ext cx="4754880" cy="502920"/>
          </a:xfrm>
          <a:prstGeom prst="rect">
            <a:avLst/>
          </a:prstGeom>
          <a:solidFill>
            <a:srgbClr val="FFF3C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D21"/>
                </a:solidFill>
              </a:rPr>
              <a:t>▶ Switch to Webots now (≈ 6 min live demo)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Results 1: planning and tracking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Aditya P. S. Sisodia</a:t>
            </a:r>
            <a:endParaRPr lang="en-US" sz="1400" dirty="0"/>
          </a:p>
        </p:txBody>
      </p:sp>
      <p:pic>
        <p:nvPicPr>
          <p:cNvPr id="5" name="fig_e1_planners.png" descr="/Users/anirvanranjan/Downloads/AISR_proj/G14_Valet_Parking/results/figures/fig_e1_plan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72" y="1234440"/>
            <a:ext cx="11002975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749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212080"/>
            <a:ext cx="31546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</a:rPr>
              <a:t>0 %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849874"/>
            <a:ext cx="3154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grid A* success (cannot be driven)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15968" y="50749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8848" y="5212080"/>
            <a:ext cx="315468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</a:rPr>
              <a:t>100 %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498848" y="5849874"/>
            <a:ext cx="3154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Hybrid A* + funnel success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83296" y="5074920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66176" y="5212080"/>
            <a:ext cx="31638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</a:rPr>
              <a:t>4.2 cm · 1.2°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266176" y="5849874"/>
            <a:ext cx="316382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D21"/>
                </a:solidFill>
              </a:rPr>
              <a:t>final lateral / heading error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Results 2: safety, robustness, comparison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Anirvan Ranjan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Ours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E3 pedestrian contacts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17 % fixed-distance / 20 % none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0 % (swept TTC)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E4 valet cycle length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54.9 m (nearest slot)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50.7 m (utility agent)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E5 success at 0.3 m GPS noise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20 % (raw GPS)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100 % (Kalman filter)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E6 / E7 92 % full / slot taken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–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93 % / 100 %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fig_e5_noise.png" descr="/Users/anirvanranjan/Downloads/AISR_proj/G14_Valet_Parking/results/figures/fig_e5_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41248"/>
            <a:ext cx="5486400" cy="2050224"/>
          </a:xfrm>
          <a:prstGeom prst="rect">
            <a:avLst/>
          </a:prstGeom>
        </p:spPr>
      </p:pic>
      <p:pic>
        <p:nvPicPr>
          <p:cNvPr id="7" name="fig_e4_e6.png" descr="/Users/anirvanranjan/Downloads/AISR_proj/G14_Valet_Parking/results/figures/fig_e4_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139329"/>
            <a:ext cx="5486400" cy="20540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Team contribution (traceable to GitHub)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Priyal Sharma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Module and files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Saurabh Kumar (lead)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Lot model, costmap, Webots world generator and controller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Naman Chanana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Grid A*, Hybrid A* + goal funnel, path, unit tests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Anirvan Ranjan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Agent + state machine, utility slot selection, Kalman filter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Aditya P. S. Sisodia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PID, Pure Pursuit, Stanley, path tracker, tuning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Priyal Sharma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1D21"/>
                          </a:solidFill>
                        </a:rPr>
                        <a:t>Reflex layer (swept TTC), simulator twin, experiments</a:t>
                      </a:r>
                      <a:endParaRPr lang="en-US" sz="2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7"/>
                </a:solidFill>
              </a:rPr>
              <a:t>Report written equally: about 5 pages each, plus own contribution row and reflection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</a:rPr>
              <a:t>Conclusion and industry use</a:t>
            </a:r>
            <a:endParaRPr lang="en-US" sz="3000" dirty="0"/>
          </a:p>
        </p:txBody>
      </p:sp>
      <p:sp>
        <p:nvSpPr>
          <p:cNvPr id="3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All members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1"/>
                </a:solidFill>
              </a:rPr>
              <a:t>Findings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Kinematic planning is essential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Funnel: 5.5× faster search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Swept TTC: 0 % contacts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Utility + KF: robust agent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1"/>
                </a:solidFill>
              </a:rPr>
              <a:t>Industry use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Infrastructure-supported AVP (ISO 23374)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Factory yards and ports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Robotaxi parking and charging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411480" cy="4114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2396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Real car: lidar or ultrasonic sensors, C++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Parallel and angled slots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Pedestrian prediction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D21"/>
                </a:solidFill>
              </a:rPr>
              <a:t>Many valet cars sharing a lot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4F5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B700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GitHub: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github.com/&lt;team-lead&gt;/g14-valet-parking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Video: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youtu.be/&lt;video-id&gt; (unlisted)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Contact: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team e-mails in the repository README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3"/>
                </a:solidFill>
              </a:rPr>
              <a:t>Saurabh Kumar · Naman Chanana · Anirvan Ranjan · Aditya Pratap Singh Sisodia · Priyal Sharma</a:t>
            </a:r>
            <a:endParaRPr lang="en-US" sz="1600" dirty="0"/>
          </a:p>
        </p:txBody>
      </p:sp>
      <p:sp>
        <p:nvSpPr>
          <p:cNvPr id="6" name="presenter-tag"/>
          <p:cNvSpPr/>
          <p:nvPr/>
        </p:nvSpPr>
        <p:spPr>
          <a:xfrm>
            <a:off x="9555480" y="411480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7" name="presenter-name"/>
          <p:cNvSpPr txBox="1"/>
          <p:nvPr/>
        </p:nvSpPr>
        <p:spPr>
          <a:xfrm>
            <a:off x="9555480" y="411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1"/>
                </a:solidFill>
              </a:rPr>
              <a:t>All members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14 Asphalt">
  <a:themeElements>
    <a:clrScheme name="G14 Asphalt">
      <a:dk1>
        <a:srgbClr val="1B1D21"/>
      </a:dk1>
      <a:lt1>
        <a:srgbClr val="FFFFFF"/>
      </a:lt1>
      <a:dk2>
        <a:srgbClr val="2B2F36"/>
      </a:dk2>
      <a:lt2>
        <a:srgbClr val="F2F3F5"/>
      </a:lt2>
      <a:accent1>
        <a:srgbClr val="F5B700"/>
      </a:accent1>
      <a:accent2>
        <a:srgbClr val="2A78D6"/>
      </a:accent2>
      <a:accent3>
        <a:srgbClr val="EB6834"/>
      </a:accent3>
      <a:accent4>
        <a:srgbClr val="1BAF7A"/>
      </a:accent4>
      <a:accent5>
        <a:srgbClr val="6B6A66"/>
      </a:accent5>
      <a:accent6>
        <a:srgbClr val="9AA0A6"/>
      </a:accent6>
      <a:hlink>
        <a:srgbClr val="2A78D6"/>
      </a:hlink>
      <a:folHlink>
        <a:srgbClr val="6250D6"/>
      </a:folHlink>
    </a:clrScheme>
    <a:fontScheme name="G14 Aspha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Valet Parking Agent (P13, G14)</dc:title>
  <dc:subject>PptxGenJS Presentation</dc:subject>
  <dc:creator>Group G14</dc:creator>
  <cp:lastModifiedBy>Group G14</cp:lastModifiedBy>
  <cp:revision>1</cp:revision>
  <dcterms:created xsi:type="dcterms:W3CDTF">2026-10-15T05:05:34Z</dcterms:created>
  <dcterms:modified xsi:type="dcterms:W3CDTF">2026-10-15T05:05:34Z</dcterms:modified>
</cp:coreProperties>
</file>